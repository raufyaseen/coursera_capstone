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sldIdLst>
    <p:sldId id="256" r:id="rId2"/>
    <p:sldId id="274" r:id="rId3"/>
    <p:sldId id="258" r:id="rId4"/>
    <p:sldId id="259" r:id="rId5"/>
    <p:sldId id="264" r:id="rId6"/>
    <p:sldId id="265" r:id="rId7"/>
    <p:sldId id="266" r:id="rId8"/>
    <p:sldId id="268" r:id="rId9"/>
    <p:sldId id="276" r:id="rId10"/>
    <p:sldId id="269" r:id="rId11"/>
    <p:sldId id="277" r:id="rId12"/>
    <p:sldId id="270" r:id="rId13"/>
    <p:sldId id="278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9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6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1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5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4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4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9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35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9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33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5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04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27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A2FCAC-B0FC-4561-97A2-3A4896B6BEB0}" type="datetimeFigureOut">
              <a:rPr lang="en-US" smtClean="0"/>
              <a:t>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26A9D6A-B6B6-4CCE-85BE-43DD322E5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5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b="1" dirty="0"/>
              <a:t>Analyzing Median House Prices and School Ratings for Scarborough Canada for Immigrants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80"/>
            <a:ext cx="8915399" cy="859146"/>
          </a:xfrm>
        </p:spPr>
        <p:txBody>
          <a:bodyPr>
            <a:normAutofit/>
          </a:bodyPr>
          <a:lstStyle/>
          <a:p>
            <a:r>
              <a:rPr lang="en-US" dirty="0"/>
              <a:t>Applied Data Science </a:t>
            </a:r>
            <a:r>
              <a:rPr lang="en-US" dirty="0" smtClean="0"/>
              <a:t>Capstone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3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scarborough canada ma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99" y="1"/>
            <a:ext cx="1164609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675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2" y="618518"/>
            <a:ext cx="9905998" cy="759906"/>
          </a:xfrm>
        </p:spPr>
        <p:txBody>
          <a:bodyPr>
            <a:normAutofit fontScale="90000"/>
          </a:bodyPr>
          <a:lstStyle/>
          <a:p>
            <a:r>
              <a:rPr lang="en-US" dirty="0"/>
              <a:t>Part 1: </a:t>
            </a:r>
            <a:r>
              <a:rPr lang="en-US" b="1" dirty="0"/>
              <a:t>Problem Description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78424"/>
            <a:ext cx="9905999" cy="441277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dirty="0">
                <a:latin typeface="Tw Cen MT" panose="020B0602020104020603" pitchFamily="34" charset="0"/>
              </a:rPr>
              <a:t>Many people migrating to various states of Canada require search of a good housing prices as well as good rating schools for their children</a:t>
            </a:r>
            <a:r>
              <a:rPr lang="en-US" sz="3200" dirty="0" smtClean="0">
                <a:latin typeface="Tw Cen MT" panose="020B0602020104020603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 </a:t>
            </a:r>
            <a:r>
              <a:rPr lang="en-US" sz="3200" dirty="0">
                <a:latin typeface="Tw Cen MT" panose="020B0602020104020603" pitchFamily="34" charset="0"/>
              </a:rPr>
              <a:t>The projects aim to create an analysis of features for a neighborhood as a comparative analysis between neighborhoods</a:t>
            </a:r>
            <a:r>
              <a:rPr lang="en-US" sz="3200" dirty="0" smtClean="0">
                <a:latin typeface="Tw Cen MT" panose="020B0602020104020603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 </a:t>
            </a:r>
            <a:r>
              <a:rPr lang="en-US" sz="3200" dirty="0">
                <a:latin typeface="Tw Cen MT" panose="020B0602020104020603" pitchFamily="34" charset="0"/>
              </a:rPr>
              <a:t>The features include median house price and school ratings and recreational facilities</a:t>
            </a:r>
            <a:r>
              <a:rPr lang="en-US" sz="3200" dirty="0" smtClean="0">
                <a:latin typeface="Tw Cen MT" panose="020B0602020104020603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 </a:t>
            </a:r>
            <a:r>
              <a:rPr lang="en-US" sz="3200" dirty="0">
                <a:latin typeface="Tw Cen MT" panose="020B0602020104020603" pitchFamily="34" charset="0"/>
              </a:rPr>
              <a:t>This would help people to get awareness of the places before moving to a new country, state, city or place for their work or to start a new life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14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278" y="618519"/>
            <a:ext cx="9905998" cy="718963"/>
          </a:xfrm>
        </p:spPr>
        <p:txBody>
          <a:bodyPr>
            <a:normAutofit/>
          </a:bodyPr>
          <a:lstStyle/>
          <a:p>
            <a:r>
              <a:rPr lang="en-US" dirty="0"/>
              <a:t>Part 2: </a:t>
            </a:r>
            <a:r>
              <a:rPr lang="en-US" b="1" dirty="0"/>
              <a:t>Data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37482"/>
            <a:ext cx="9905999" cy="5213444"/>
          </a:xfrm>
        </p:spPr>
        <p:txBody>
          <a:bodyPr/>
          <a:lstStyle/>
          <a:p>
            <a:r>
              <a:rPr lang="en-US" sz="2400" b="1" dirty="0">
                <a:latin typeface="Tw Cen MT" panose="020B0602020104020603" pitchFamily="34" charset="0"/>
              </a:rPr>
              <a:t>Longitude and Latitude Data:</a:t>
            </a:r>
            <a:endParaRPr lang="en-US" sz="2400" dirty="0">
              <a:latin typeface="Tw Cen MT" panose="020B0602020104020603" pitchFamily="34" charset="0"/>
            </a:endParaRPr>
          </a:p>
          <a:p>
            <a:r>
              <a:rPr lang="en-US" sz="2400" dirty="0">
                <a:latin typeface="Tw Cen MT" panose="020B0602020104020603" pitchFamily="34" charset="0"/>
              </a:rPr>
              <a:t>We will need geo-locational information about that specific borough and the neighborhoods in that borough. </a:t>
            </a:r>
            <a:endParaRPr lang="en-US" sz="2400" dirty="0" smtClean="0">
              <a:latin typeface="Tw Cen MT" panose="020B0602020104020603" pitchFamily="34" charset="0"/>
            </a:endParaRPr>
          </a:p>
          <a:p>
            <a:r>
              <a:rPr lang="en-US" sz="2400" dirty="0" smtClean="0">
                <a:latin typeface="Tw Cen MT" panose="020B0602020104020603" pitchFamily="34" charset="0"/>
              </a:rPr>
              <a:t>It </a:t>
            </a:r>
            <a:r>
              <a:rPr lang="en-US" sz="2400" dirty="0">
                <a:latin typeface="Tw Cen MT" panose="020B0602020104020603" pitchFamily="34" charset="0"/>
              </a:rPr>
              <a:t>is "Scarborough" in Toronto.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072" y="4442348"/>
            <a:ext cx="3688466" cy="13243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99" y="3376419"/>
            <a:ext cx="6672761" cy="317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6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5813" y="618518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Foursquare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821" y="1733265"/>
            <a:ext cx="10459185" cy="4535607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Connecting </a:t>
            </a:r>
            <a:r>
              <a:rPr lang="en-US" sz="3200" dirty="0">
                <a:latin typeface="Tw Cen MT" panose="020B0602020104020603" pitchFamily="34" charset="0"/>
              </a:rPr>
              <a:t>to Foursquare and Retrieving Locational </a:t>
            </a:r>
            <a:r>
              <a:rPr lang="en-US" sz="3200" dirty="0" smtClean="0">
                <a:latin typeface="Tw Cen MT" panose="020B0602020104020603" pitchFamily="34" charset="0"/>
              </a:rPr>
              <a:t>Data</a:t>
            </a:r>
            <a:r>
              <a:rPr lang="en-US" sz="3200" dirty="0">
                <a:latin typeface="Tw Cen MT" panose="020B0602020104020603" pitchFamily="34" charset="0"/>
              </a:rPr>
              <a:t> for Each Venue in Every </a:t>
            </a:r>
            <a:r>
              <a:rPr lang="en-US" sz="3200" dirty="0" smtClean="0">
                <a:latin typeface="Tw Cen MT" panose="020B0602020104020603" pitchFamily="34" charset="0"/>
              </a:rPr>
              <a:t>Neighborhood</a:t>
            </a:r>
          </a:p>
          <a:p>
            <a:pPr algn="just"/>
            <a:r>
              <a:rPr lang="en-US" sz="3200" dirty="0">
                <a:latin typeface="Tw Cen MT" panose="020B0602020104020603" pitchFamily="34" charset="0"/>
              </a:rPr>
              <a:t>After finding the list of neighborhoods, we then connect to the Foursquare API to gather information about venues inside each and every neighborhood</a:t>
            </a:r>
            <a:r>
              <a:rPr lang="en-US" sz="3200" dirty="0" smtClean="0">
                <a:latin typeface="Tw Cen MT" panose="020B0602020104020603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 </a:t>
            </a:r>
            <a:r>
              <a:rPr lang="en-US" sz="3200" dirty="0">
                <a:latin typeface="Tw Cen MT" panose="020B0602020104020603" pitchFamily="34" charset="0"/>
              </a:rPr>
              <a:t>For each neighborhood, we have chosen the radius to be </a:t>
            </a:r>
            <a:r>
              <a:rPr lang="en-US" sz="3200" dirty="0" smtClean="0">
                <a:latin typeface="Tw Cen MT" panose="020B0602020104020603" pitchFamily="34" charset="0"/>
              </a:rPr>
              <a:t>100 </a:t>
            </a:r>
            <a:r>
              <a:rPr lang="en-US" sz="3200" dirty="0">
                <a:latin typeface="Tw Cen MT" panose="020B0602020104020603" pitchFamily="34" charset="0"/>
              </a:rPr>
              <a:t>meter.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070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541" y="618518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720" y="1501253"/>
            <a:ext cx="10459185" cy="5172502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latin typeface="Tw Cen MT" panose="020B0602020104020603" pitchFamily="34" charset="0"/>
              </a:rPr>
              <a:t>Processing </a:t>
            </a:r>
            <a:r>
              <a:rPr lang="en-US" sz="2800" dirty="0">
                <a:latin typeface="Tw Cen MT" panose="020B0602020104020603" pitchFamily="34" charset="0"/>
              </a:rPr>
              <a:t>the Retrieved Data and Creating a </a:t>
            </a:r>
            <a:r>
              <a:rPr lang="en-US" sz="2800" dirty="0" err="1" smtClean="0">
                <a:latin typeface="Tw Cen MT" panose="020B0602020104020603" pitchFamily="34" charset="0"/>
              </a:rPr>
              <a:t>DataFrame</a:t>
            </a:r>
            <a:r>
              <a:rPr lang="en-US" sz="2800" dirty="0" smtClean="0">
                <a:latin typeface="Tw Cen MT" panose="020B0602020104020603" pitchFamily="34" charset="0"/>
              </a:rPr>
              <a:t> </a:t>
            </a:r>
            <a:r>
              <a:rPr lang="en-US" sz="2800" dirty="0">
                <a:latin typeface="Tw Cen MT" panose="020B0602020104020603" pitchFamily="34" charset="0"/>
              </a:rPr>
              <a:t>for All the Venues inside the Scarborough</a:t>
            </a:r>
          </a:p>
          <a:p>
            <a:pPr algn="just"/>
            <a:r>
              <a:rPr lang="en-US" sz="2800" dirty="0">
                <a:latin typeface="Tw Cen MT" panose="020B0602020104020603" pitchFamily="34" charset="0"/>
              </a:rPr>
              <a:t>When the data is completely gathered, we will perform processing on that raw data to find our desirable features for each venue. </a:t>
            </a:r>
            <a:endParaRPr lang="en-US" sz="2800" dirty="0" smtClean="0">
              <a:latin typeface="Tw Cen MT" panose="020B0602020104020603" pitchFamily="34" charset="0"/>
            </a:endParaRPr>
          </a:p>
          <a:p>
            <a:pPr algn="just"/>
            <a:r>
              <a:rPr lang="en-US" sz="2800" dirty="0" smtClean="0">
                <a:latin typeface="Tw Cen MT" panose="020B0602020104020603" pitchFamily="34" charset="0"/>
              </a:rPr>
              <a:t>Our </a:t>
            </a:r>
            <a:r>
              <a:rPr lang="en-US" sz="2800" dirty="0">
                <a:latin typeface="Tw Cen MT" panose="020B0602020104020603" pitchFamily="34" charset="0"/>
              </a:rPr>
              <a:t>main feature is the category of that venue. </a:t>
            </a:r>
            <a:endParaRPr lang="en-US" sz="2800" dirty="0" smtClean="0">
              <a:latin typeface="Tw Cen MT" panose="020B0602020104020603" pitchFamily="34" charset="0"/>
            </a:endParaRPr>
          </a:p>
          <a:p>
            <a:pPr algn="just"/>
            <a:r>
              <a:rPr lang="en-US" sz="2800" dirty="0" smtClean="0">
                <a:latin typeface="Tw Cen MT" panose="020B0602020104020603" pitchFamily="34" charset="0"/>
              </a:rPr>
              <a:t>After </a:t>
            </a:r>
            <a:r>
              <a:rPr lang="en-US" sz="2800" dirty="0">
                <a:latin typeface="Tw Cen MT" panose="020B0602020104020603" pitchFamily="34" charset="0"/>
              </a:rPr>
              <a:t>this stage, the column "Venue's Category" </a:t>
            </a:r>
            <a:r>
              <a:rPr lang="en-US" sz="2800" dirty="0" smtClean="0">
                <a:latin typeface="Tw Cen MT" panose="020B0602020104020603" pitchFamily="34" charset="0"/>
              </a:rPr>
              <a:t>will </a:t>
            </a:r>
            <a:r>
              <a:rPr lang="en-US" sz="2800" dirty="0">
                <a:latin typeface="Tw Cen MT" panose="020B0602020104020603" pitchFamily="34" charset="0"/>
              </a:rPr>
              <a:t>be One-hot encoded and different venues will have different feature-columns. </a:t>
            </a:r>
          </a:p>
        </p:txBody>
      </p:sp>
    </p:spTree>
    <p:extLst>
      <p:ext uri="{BB962C8B-B14F-4D97-AF65-F5344CB8AC3E}">
        <p14:creationId xmlns:p14="http://schemas.microsoft.com/office/powerpoint/2010/main" val="81890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142" y="618518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Creating a </a:t>
            </a:r>
            <a:r>
              <a:rPr lang="en-US" b="1" dirty="0" err="1" smtClean="0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55594"/>
            <a:ext cx="10459185" cy="4535607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w Cen MT" panose="020B0602020104020603" pitchFamily="34" charset="0"/>
              </a:rPr>
              <a:t>Processing </a:t>
            </a:r>
            <a:r>
              <a:rPr lang="en-US" sz="2800" dirty="0">
                <a:latin typeface="Tw Cen MT" panose="020B0602020104020603" pitchFamily="34" charset="0"/>
              </a:rPr>
              <a:t>the Retrieved Data and Creating a </a:t>
            </a:r>
            <a:r>
              <a:rPr lang="en-US" sz="2800" dirty="0" err="1" smtClean="0">
                <a:latin typeface="Tw Cen MT" panose="020B0602020104020603" pitchFamily="34" charset="0"/>
              </a:rPr>
              <a:t>DataFrame</a:t>
            </a:r>
            <a:r>
              <a:rPr lang="en-US" sz="2800" dirty="0" smtClean="0">
                <a:latin typeface="Tw Cen MT" panose="020B0602020104020603" pitchFamily="34" charset="0"/>
              </a:rPr>
              <a:t> </a:t>
            </a:r>
            <a:r>
              <a:rPr lang="en-US" sz="2800" dirty="0">
                <a:latin typeface="Tw Cen MT" panose="020B0602020104020603" pitchFamily="34" charset="0"/>
              </a:rPr>
              <a:t>for All the Venues inside the </a:t>
            </a:r>
            <a:r>
              <a:rPr lang="en-US" sz="2800" dirty="0" smtClean="0">
                <a:latin typeface="Tw Cen MT" panose="020B0602020104020603" pitchFamily="34" charset="0"/>
              </a:rPr>
              <a:t>Scarborough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9" y="2452656"/>
            <a:ext cx="10986522" cy="39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6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Main </a:t>
            </a:r>
            <a:r>
              <a:rPr lang="en-US" b="1" dirty="0" smtClean="0"/>
              <a:t>Article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437" y="-502694"/>
            <a:ext cx="10459185" cy="4535607"/>
          </a:xfrm>
        </p:spPr>
        <p:txBody>
          <a:bodyPr>
            <a:normAutofit/>
          </a:bodyPr>
          <a:lstStyle/>
          <a:p>
            <a:r>
              <a:rPr lang="en-US" b="1" dirty="0"/>
              <a:t>Part 4: Applying one of Machine Learning Techniques (K-Means Clustering)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183" y="1933613"/>
            <a:ext cx="9129526" cy="19355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4205784"/>
            <a:ext cx="10917690" cy="196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9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2983"/>
            <a:ext cx="10018713" cy="1752599"/>
          </a:xfrm>
        </p:spPr>
        <p:txBody>
          <a:bodyPr/>
          <a:lstStyle/>
          <a:p>
            <a:r>
              <a:rPr lang="en-US" b="1" dirty="0" smtClean="0"/>
              <a:t>Finding Most Common Venues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21" y="1785582"/>
            <a:ext cx="11336179" cy="507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3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Decision Making and Reporting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55594"/>
            <a:ext cx="10459185" cy="45356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Now</a:t>
            </a:r>
            <a:r>
              <a:rPr lang="en-US" dirty="0"/>
              <a:t>, we focus on the centers of clusters and compare them for their "Total Restaurants" and their "Total Joints".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group which its center has the highest "Total Sum" will be our best recommendation to the contractor. </a:t>
            </a:r>
            <a:endParaRPr lang="en-US" dirty="0" smtClean="0"/>
          </a:p>
          <a:p>
            <a:r>
              <a:rPr lang="en-US" dirty="0" smtClean="0"/>
              <a:t>{</a:t>
            </a:r>
            <a:r>
              <a:rPr lang="en-US" dirty="0"/>
              <a:t>Note: Total Sum = Total Restaurants + Total Joints.}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algorithm although is pretty straightforward yet is strongly powerful.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568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Clustering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84" y="2438399"/>
            <a:ext cx="10722074" cy="2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4" y="604870"/>
            <a:ext cx="9905998" cy="6370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NEIGHBORHOOD MEDIAN HOUSING PRICES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69743" y="1241946"/>
            <a:ext cx="9130353" cy="561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29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NEIGHBORHOOD SCHOOL RATINGS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78251" y="1264555"/>
            <a:ext cx="10449892" cy="545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6824" y="19050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In </a:t>
            </a:r>
            <a:r>
              <a:rPr lang="en-US" sz="3200" dirty="0">
                <a:latin typeface="Tw Cen MT" panose="020B0602020104020603" pitchFamily="34" charset="0"/>
              </a:rPr>
              <a:t>this project, through a k-means cluster algorithm we separate the neighborhood into 03 </a:t>
            </a:r>
            <a:r>
              <a:rPr lang="en-US" sz="3200" dirty="0" smtClean="0">
                <a:latin typeface="Tw Cen MT" panose="020B0602020104020603" pitchFamily="34" charset="0"/>
              </a:rPr>
              <a:t>clusters </a:t>
            </a:r>
            <a:r>
              <a:rPr lang="en-US" sz="3200" dirty="0">
                <a:latin typeface="Tw Cen MT" panose="020B0602020104020603" pitchFamily="34" charset="0"/>
              </a:rPr>
              <a:t>which have similar neighborhoods around them. </a:t>
            </a:r>
            <a:endParaRPr lang="en-US" sz="3200" dirty="0" smtClean="0">
              <a:latin typeface="Tw Cen MT" panose="020B0602020104020603" pitchFamily="34" charset="0"/>
            </a:endParaRPr>
          </a:p>
          <a:p>
            <a:pPr algn="just"/>
            <a:r>
              <a:rPr lang="en-US" sz="3200" dirty="0" smtClean="0">
                <a:latin typeface="Tw Cen MT" panose="020B0602020104020603" pitchFamily="34" charset="0"/>
              </a:rPr>
              <a:t>Using </a:t>
            </a:r>
            <a:r>
              <a:rPr lang="en-US" sz="3200" dirty="0">
                <a:latin typeface="Tw Cen MT" panose="020B0602020104020603" pitchFamily="34" charset="0"/>
              </a:rPr>
              <a:t>the charts above decision leading to a particular neighborhood based on average house prices and school rating can be made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523" y="2079008"/>
            <a:ext cx="5817808" cy="1578592"/>
          </a:xfrm>
        </p:spPr>
        <p:txBody>
          <a:bodyPr>
            <a:noAutofit/>
          </a:bodyPr>
          <a:lstStyle/>
          <a:p>
            <a:r>
              <a:rPr lang="en-US" sz="8000" b="1" dirty="0" smtClean="0">
                <a:latin typeface="Tw Cen MT" panose="020B0602020104020603" pitchFamily="34" charset="0"/>
              </a:rPr>
              <a:t>THANKS</a:t>
            </a:r>
            <a:endParaRPr lang="en-US" sz="8000" b="1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611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323</TotalTime>
  <Words>440</Words>
  <Application>Microsoft Office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Tw Cen MT</vt:lpstr>
      <vt:lpstr>Parallax</vt:lpstr>
      <vt:lpstr>Analyzing Median House Prices and School Ratings for Scarborough Canada for Immigrants</vt:lpstr>
      <vt:lpstr>PowerPoint Presentation</vt:lpstr>
      <vt:lpstr>Part 1: Problem Description </vt:lpstr>
      <vt:lpstr>Part 2: Data We Need</vt:lpstr>
      <vt:lpstr>Foursquare API</vt:lpstr>
      <vt:lpstr>Data Preprocessing</vt:lpstr>
      <vt:lpstr>Creating a DataFrame</vt:lpstr>
      <vt:lpstr>Main Article</vt:lpstr>
      <vt:lpstr>Finding Most Common Venues</vt:lpstr>
      <vt:lpstr>Decision Making and Reporting Results</vt:lpstr>
      <vt:lpstr>Clustering</vt:lpstr>
      <vt:lpstr>NEIGHBORHOOD MEDIAN HOUSING PRICES</vt:lpstr>
      <vt:lpstr>NEIGHBORHOOD SCHOOL RATINGS</vt:lpstr>
      <vt:lpstr>Conclusion: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Recommender System for Groceries Contractor</dc:title>
  <dc:creator>Mohammad Ali Dastgheib</dc:creator>
  <cp:lastModifiedBy>Windows Kullanıcısı</cp:lastModifiedBy>
  <cp:revision>15</cp:revision>
  <dcterms:created xsi:type="dcterms:W3CDTF">2018-09-09T09:14:01Z</dcterms:created>
  <dcterms:modified xsi:type="dcterms:W3CDTF">2019-02-16T07:20:06Z</dcterms:modified>
</cp:coreProperties>
</file>